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THE STRATA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1">
                <a:solidFill>
                  <a:srgbClr val="A68A64"/>
                </a:solidFill>
                <a:latin typeface="Calibri"/>
              </a:rPr>
              <a:t>A simple guide for owners — what's mine, what's "ours", and who pays when something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Based on NSW Strata Legislation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A68A64"/>
                </a:solidFill>
                <a:latin typeface="Calibri"/>
              </a:rPr>
              <a:t>Building Commission NSW · 369 Alliance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13 chapters · 1 cheat sheet · plain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to read this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This is a story, not a law 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Every chapter answers ONE question owners ask all the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C07040"/>
                </a:solidFill>
                <a:latin typeface="Calibri"/>
              </a:rPr>
              <a:t>At the end of every chapter you will find: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Rule in one line.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Who pays.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The law behind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572000"/>
            <a:ext cx="137160" cy="137160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If you only have 5 minutes…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Read CHAPTER 2 (the imaginary line) and CHAPTER 5 (the decision tree). Those two answer 80% of the calls we 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is Strata, really?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Calibri"/>
              </a:rPr>
              <a:t>Imagine 50 families in one building.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Each family wants their own front door, kitchen, bedroom — but everyone has to share the lift, the roof, the driveway, the walls between apartments, and the pipes inside the walls.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C07040"/>
                </a:solidFill>
                <a:latin typeface="Calibri"/>
              </a:rPr>
              <a:t>And everyone shares the cost of fixing those shared things — forever.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That is Strata.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When you buy an apartment in NSW, you buy TWO things at once: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Your Lot — the box of air inside your apartment.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A share of the Common Property — a slice of everything that is shared.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349240"/>
            <a:ext cx="11094415" cy="1143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349240"/>
            <a:ext cx="137160" cy="114300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1072865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Rule in one line: </a:t>
            </a:r>
            <a:r>
              <a:rPr sz="1300">
                <a:solidFill>
                  <a:srgbClr val="1A1A2E"/>
                </a:solidFill>
                <a:latin typeface="Calibri"/>
              </a:rPr>
              <a:t>Buying an apartment means buying a private box + a share of a shared building.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07040"/>
                </a:solidFill>
                <a:latin typeface="Calibri"/>
              </a:rPr>
              <a:t>Who pays: </a:t>
            </a:r>
            <a:r>
              <a:rPr sz="1200">
                <a:solidFill>
                  <a:srgbClr val="1A1A2E"/>
                </a:solidFill>
                <a:latin typeface="Calibri"/>
              </a:rPr>
              <a:t>You pay levies (your share of the bills) every quarter, for as long as you own.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A68A64"/>
                </a:solidFill>
                <a:latin typeface="Calibri"/>
              </a:rPr>
              <a:t>The law: </a:t>
            </a:r>
            <a:r>
              <a:rPr sz="1200" i="1">
                <a:solidFill>
                  <a:srgbClr val="1A1A2E"/>
                </a:solidFill>
                <a:latin typeface="Calibri"/>
              </a:rPr>
              <a:t>Strata Schemes Management Act 2015 (SSMA) and Strata Schemes Development Act 2015 (SSDA).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Imaginary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There is a line that runs around the inside of every apartment.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You can't see it — but it's drawn on the registered Strata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486400" cy="457200"/>
          </a:xfrm>
          <a:prstGeom prst="rect">
            <a:avLst/>
          </a:prstGeom>
          <a:solidFill>
            <a:srgbClr val="C0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05456"/>
            <a:ext cx="53949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YOUR side of the line  =  LOT PROPERTY  = 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5486400" cy="32004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Light fittings, switches, power points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Blinds, curtains, internal doors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Internal walls NOT shown on the Strata Plan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Floor finishes (carpet, your tiles)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Kitchen cupboards &amp; appliances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Tiles &amp; waterproofing on internal walls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Bath, basin, toilet, taps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Plumbing ABOVE the upper surface of the floor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468880"/>
            <a:ext cx="548640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505456"/>
            <a:ext cx="53949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OTHER side  =  COMMON PROPERTY  =  OWNERS CORP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26080"/>
            <a:ext cx="5486400" cy="32004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01752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The structure (slabs, ceilings, columns, beams)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External windows, doors, balcony doors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ORIGINAL floor tiles (incl. shower)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ORIGINAL waterproofing membrane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Tiles &amp; waterproofing on BOUNDARY walls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Shared plumbing inside walls/voids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Wiring outside your apartment / shared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 Front door of your apartment (on the plan)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Imaginary Line — applies to all schemes since 1 July 1974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The 3 questions that decide everything: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611880" cy="23774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611880" cy="5029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A68A64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47672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Where is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33756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Inside or outside the line on the Strata Plan?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611880" cy="23774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920240"/>
            <a:ext cx="3611880" cy="5029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947672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A68A64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947672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Was it there from day one?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06040"/>
            <a:ext cx="333756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Original = usually Common Property.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920240"/>
            <a:ext cx="3611880" cy="23774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920240"/>
            <a:ext cx="3611880" cy="5029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47672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A68A64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947672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Does it serve more than one apartment?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06040"/>
            <a:ext cx="333756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Yes = Common Property.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72000"/>
            <a:ext cx="11094415" cy="18288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72000"/>
            <a:ext cx="137160" cy="182880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Rule in one line: </a:t>
            </a:r>
            <a:r>
              <a:rPr sz="1300">
                <a:solidFill>
                  <a:srgbClr val="1A1A2E"/>
                </a:solidFill>
                <a:latin typeface="Calibri"/>
              </a:rPr>
              <a:t>If it was built originally and serves more than one owner, it is Common Property.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07040"/>
                </a:solidFill>
                <a:latin typeface="Calibri"/>
              </a:rPr>
              <a:t>Who pays: </a:t>
            </a:r>
            <a:r>
              <a:rPr sz="1200">
                <a:solidFill>
                  <a:srgbClr val="1A1A2E"/>
                </a:solidFill>
                <a:latin typeface="Calibri"/>
              </a:rPr>
              <a:t>Lot side = the owner. Common side = all owners (through levies).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A68A64"/>
                </a:solidFill>
                <a:latin typeface="Calibri"/>
              </a:rPr>
              <a:t>The law: </a:t>
            </a:r>
            <a:r>
              <a:rPr sz="1200" i="1">
                <a:solidFill>
                  <a:srgbClr val="1A1A2E"/>
                </a:solidFill>
                <a:latin typeface="Calibri"/>
              </a:rPr>
              <a:t>Strata Schemes Development Act 2015, Schedule 2 + your Strata Plan.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Cast — who is who in your building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Knowing who does what saves you years of frustration.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029200"/>
                <a:gridCol w="365760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Character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they actually do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Can they sign remedial works?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Owner (you)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Owns 1 Lot + share of Common Property. Pays levies. Votes.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Only inside your own Lot.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Owners Corporation (OC)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Legal "company" of ALL owners. Owns the Common Property.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YES — only body that can.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Strata Committee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3–9 owners elected for day-to-day decisions.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Limited — big jobs go to the OC.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Strata Manager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Licensed agent for admin, levies, meetings, insurance.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NO — needs OC approval.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Building Manager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Looks after the building (cleaning, gardens, small fixes).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NO — needs OC approval.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NCAT (Tribunal)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Resolves disputes the OC cannot fix.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Decides; orders works in some cases.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NSW Fair Trading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Free mediation before NCAT.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No — they mediate.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Building Commission NSW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Regulator. Inspects works. Issues fines.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They police; not your project.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623560"/>
            <a:ext cx="11094415" cy="9144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37160" cy="91440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150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Rule in one line: </a:t>
            </a:r>
            <a:r>
              <a:rPr sz="1300">
                <a:solidFill>
                  <a:srgbClr val="1A1A2E"/>
                </a:solidFill>
                <a:latin typeface="Calibri"/>
              </a:rPr>
              <a:t>Only the Owners Corporation can authorise major remedial works. Not the strata manager. Not the building manager. Not one loud owner.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07040"/>
                </a:solidFill>
                <a:latin typeface="Calibri"/>
              </a:rPr>
              <a:t>Who pays: </a:t>
            </a:r>
            <a:r>
              <a:rPr sz="1200">
                <a:solidFill>
                  <a:srgbClr val="1A1A2E"/>
                </a:solidFill>
                <a:latin typeface="Calibri"/>
              </a:rPr>
              <a:t>OC pays from the Capital Works Fund (or by special levy).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A68A64"/>
                </a:solidFill>
                <a:latin typeface="Calibri"/>
              </a:rPr>
              <a:t>The law: </a:t>
            </a:r>
            <a:r>
              <a:rPr sz="1200" i="1">
                <a:solidFill>
                  <a:srgbClr val="1A1A2E"/>
                </a:solidFill>
                <a:latin typeface="Calibri"/>
              </a:rPr>
              <a:t>SSMA 2015 sections 5, 8, 9 and 106.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Rule Book — 8 laws that govern your apartment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9728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5120640"/>
              </a:tblGrid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When this happens…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The law you point at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Meetings, levies, by-laws, voting, common property repairs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Strata Schemes Management Act 2015 + Reg 2016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The strata plan, subdivision, ending the scheme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Strata Schemes Development Act 2015 + Reg 2016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Designs/builders for waterproofing, cladding, fire, structure (Class 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Design and Building Practitioners Act 2020 + Reg 2021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Defects in residential apartment buildings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Residential Apartment Buildings Act 2020 (RAB)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Builder warranties (2-year minor / 6-year major)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Home Building Act 1989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Whether the work needs council approval (DA, CDC, exempt)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EP&amp;A Act 1979 + Codes SEPP 2008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Strata manager's licence and conduct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Property and Stock Agents Act 2002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Buying or selling the apartment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Conveyancing Act 1919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10058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137160" cy="100584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Rule in one line: </a:t>
            </a:r>
            <a:r>
              <a:rPr sz="1300">
                <a:solidFill>
                  <a:srgbClr val="1A1A2E"/>
                </a:solidFill>
                <a:latin typeface="Calibri"/>
              </a:rPr>
              <a:t>Day-to-day = SSMA. Building quality = DBP + RAB. Defects warranty = HBA. Approval needed? = EP&amp;A + Codes SEPP.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07040"/>
                </a:solidFill>
                <a:latin typeface="Calibri"/>
              </a:rPr>
              <a:t>Who pays: </a:t>
            </a:r>
            <a:r>
              <a:rPr sz="1200">
                <a:solidFill>
                  <a:srgbClr val="1A1A2E"/>
                </a:solidFill>
                <a:latin typeface="Calibri"/>
              </a:rPr>
              <a:t>Depends on the matter — see other chapters.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A68A64"/>
                </a:solidFill>
                <a:latin typeface="Calibri"/>
              </a:rPr>
              <a:t>The law: </a:t>
            </a:r>
            <a:r>
              <a:rPr sz="1200" i="1">
                <a:solidFill>
                  <a:srgbClr val="1A1A2E"/>
                </a:solidFill>
                <a:latin typeface="Calibri"/>
              </a:rPr>
              <a:t>See each Act above.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Decision Tree — whose problem is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Use this BEFORE you call anyone.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28800"/>
            <a:ext cx="4846320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Is the broken thing on the LOT side of the line?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7889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C07040"/>
                </a:solidFill>
                <a:latin typeface="Calibri"/>
              </a:rPr>
              <a:t>YES 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3200400" cy="914400"/>
          </a:xfrm>
          <a:prstGeom prst="rect">
            <a:avLst/>
          </a:prstGeom>
          <a:solidFill>
            <a:srgbClr val="C0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YOU pay.
YOU fix.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889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A68A64"/>
                </a:solidFill>
                <a:latin typeface="Calibri"/>
              </a:rPr>
              <a:t>← 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3200400"/>
            <a:ext cx="3291840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Is it ORIGINAL to the building?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4114800"/>
            <a:ext cx="3291840" cy="77724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114800"/>
            <a:ext cx="32918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OWNERS CORP
pays &amp; fixes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4937760"/>
            <a:ext cx="3291840" cy="7772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4937760"/>
            <a:ext cx="32918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Whoever installed it pays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7315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Lot side examples: light fittings, your dishwasher, tiles you renovated yourself, plumbing above the floor.
Common side examples: original waterproofing, structure, external windows, shared pipes.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C07040"/>
                </a:solidFill>
                <a:latin typeface="Calibri"/>
              </a:rPr>
              <a:t>Rule:  Original + serves more than one Lot = Owners Corporation.   Yours alone, installed by you, above the floor = you.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Remediation Story — when something BIG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"Big" = roof leaks across 6 apartments · façade cracking · basement waterproofing failed · cladding has to come 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These are remedial building works — and they have their own rulebook now (since 2020).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2743200" cy="16916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274320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A68A6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50008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Spot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24688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Owner / building manager / inspector reports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331720"/>
            <a:ext cx="2743200" cy="16916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331720"/>
            <a:ext cx="274320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35000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A68A64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350008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Get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834640"/>
            <a:ext cx="24688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Planning Consultant says: Exempt / CDC / 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331720"/>
            <a:ext cx="2743200" cy="16916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2331720"/>
            <a:ext cx="274320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799" y="235000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A68A64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2350008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OC VOTES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19" y="2834640"/>
            <a:ext cx="24688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Only the Owners Corporation can authorise.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19" y="2331720"/>
            <a:ext cx="2743200" cy="16916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19" y="2331720"/>
            <a:ext cx="274320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235000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A68A64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39" y="2350008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DBP twist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79" y="2834640"/>
            <a:ext cx="24688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Class 2 → Reg. Designer + Reg. Builder may be needed.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06240"/>
            <a:ext cx="2743200" cy="16916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206240"/>
            <a:ext cx="274320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22452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A68A64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24528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Lodge designs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09160"/>
            <a:ext cx="24688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Upload to NSW Planning Portal BEFORE site work.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000" y="4206240"/>
            <a:ext cx="2743200" cy="16916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29000" y="4206240"/>
            <a:ext cx="274320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422452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A68A64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224528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709160"/>
            <a:ext cx="24688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Build to the lodged designs. Variations? Re-lodge.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59" y="4206240"/>
            <a:ext cx="2743200" cy="16916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59" y="4206240"/>
            <a:ext cx="274320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799" y="422452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A68A64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79" y="4224528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Close 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19" y="4709160"/>
            <a:ext cx="24688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Builder lodges Building Compliance Declaration.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Remediation — the two DBP exceptions that catch everyone out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5943600"/>
              </a:tblGrid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Type of work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DBP triggered?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When can you avoid it?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Waterproofing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YES (almost always)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Only if ALL: (1) bathroom/kitchen/laundry/toilet alteration, (2) one single dwelling, (3) exempt development.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External cladding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YES (almost always)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Only if NOT being done because of a council order or development control order.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3749039"/>
            <a:ext cx="11064240" cy="914400"/>
          </a:xfrm>
          <a:prstGeom prst="rect">
            <a:avLst/>
          </a:prstGeom>
          <a:solidFill>
            <a:srgbClr val="C0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Even if your work is "exempt development" under the Codes SEPP — waterproofing and cladding STILL need a Registered Design Practitioner.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37760"/>
            <a:ext cx="11094415" cy="155448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937760"/>
            <a:ext cx="137160" cy="155448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Rule in one line: </a:t>
            </a:r>
            <a:r>
              <a:rPr sz="1300">
                <a:solidFill>
                  <a:srgbClr val="1A1A2E"/>
                </a:solidFill>
                <a:latin typeface="Calibri"/>
              </a:rPr>
              <a:t>Owners vote → designer designs → portal upload → builder builds → builder declares → case closed.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07040"/>
                </a:solidFill>
                <a:latin typeface="Calibri"/>
              </a:rPr>
              <a:t>Who pays: </a:t>
            </a:r>
            <a:r>
              <a:rPr sz="1200">
                <a:solidFill>
                  <a:srgbClr val="1A1A2E"/>
                </a:solidFill>
                <a:latin typeface="Calibri"/>
              </a:rPr>
              <a:t>OC pays (capital works fund or special levy).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A68A64"/>
                </a:solidFill>
                <a:latin typeface="Calibri"/>
              </a:rPr>
              <a:t>The law: </a:t>
            </a:r>
            <a:r>
              <a:rPr sz="1200" i="1">
                <a:solidFill>
                  <a:srgbClr val="1A1A2E"/>
                </a:solidFill>
                <a:latin typeface="Calibri"/>
              </a:rPr>
              <a:t>DBP Act 2020, DBP Regulation 2021 (clause 13), RAB Act 2020, Codes SEPP 2008.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"It's an Emergency" Exception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Sometimes you cannot wait for designs. The roof is open. People can't sleep. Real risk to safety.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That is Emergency Remedial Building Work. The rules bend — but only a little.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7040"/>
                </a:solidFill>
                <a:latin typeface="Calibri"/>
              </a:rPr>
              <a:t>ALL 5 of these must be true (a "reasonable excuse"):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Immediate action is needed.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The issue is causing or likely to cause damage.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It impacts: ability to live there, OR health and safety, OR risk of further damage.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The impact is serious.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The work done is only what is necessary to mitigate it — not the full final fix.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Then within 7 DAYS the builder lodges the emergency work + Building Compliance Declaration on the NSW Planning Portal.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715000"/>
            <a:ext cx="11094415" cy="82296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715000"/>
            <a:ext cx="137160" cy="82296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Rule in one line: </a:t>
            </a:r>
            <a:r>
              <a:rPr sz="1300">
                <a:solidFill>
                  <a:srgbClr val="1A1A2E"/>
                </a:solidFill>
                <a:latin typeface="Calibri"/>
              </a:rPr>
              <a:t>Emergency = act now, declare within 7 days, then plan the proper fix.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07040"/>
                </a:solidFill>
                <a:latin typeface="Calibri"/>
              </a:rPr>
              <a:t>Who pays: </a:t>
            </a:r>
            <a:r>
              <a:rPr sz="1200">
                <a:solidFill>
                  <a:srgbClr val="1A1A2E"/>
                </a:solidFill>
                <a:latin typeface="Calibri"/>
              </a:rPr>
              <a:t>OC pays (capital works fund or special levy).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A68A64"/>
                </a:solidFill>
                <a:latin typeface="Calibri"/>
              </a:rPr>
              <a:t>The law: </a:t>
            </a:r>
            <a:r>
              <a:rPr sz="1200" i="1">
                <a:solidFill>
                  <a:srgbClr val="1A1A2E"/>
                </a:solidFill>
                <a:latin typeface="Calibri"/>
              </a:rPr>
              <a:t>DBP Act 2020 — emergency remedial building work provisions.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Penalty Story — why this is not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"Can we just skip the paperwork?"  No. Here is what happens.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468880"/>
                <a:gridCol w="25603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What went wrong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Body corporate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Individual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Designer failed to provide design compliance declarations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Up to $165,000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Up to $55,000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Builder failed to lodge declared designs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Up to $33,000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Up to $11,000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Significant offences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Prosecution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Prosecution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07040"/>
                </a:solidFill>
                <a:latin typeface="Calibri"/>
              </a:rPr>
              <a:t>On top of fines, Building Commission NSW can issue: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Stop Work Orders (RAB Act).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Building Work Rectification Orders — forcing the OC to undo and redo.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Prohibition Orders — blocking Occupation Certificate or strata plan registration.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94415" cy="82296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669280"/>
            <a:ext cx="137160" cy="82296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607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Rule in one line: </a:t>
            </a:r>
            <a:r>
              <a:rPr sz="1300">
                <a:solidFill>
                  <a:srgbClr val="1A1A2E"/>
                </a:solidFill>
                <a:latin typeface="Calibri"/>
              </a:rPr>
              <a:t>Cutting corners on DBP costs more than doing it properly.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07040"/>
                </a:solidFill>
                <a:latin typeface="Calibri"/>
              </a:rPr>
              <a:t>Who pays: </a:t>
            </a:r>
            <a:r>
              <a:rPr sz="1200">
                <a:solidFill>
                  <a:srgbClr val="1A1A2E"/>
                </a:solidFill>
                <a:latin typeface="Calibri"/>
              </a:rPr>
              <a:t>OC and/or practitioners.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A68A64"/>
                </a:solidFill>
                <a:latin typeface="Calibri"/>
              </a:rPr>
              <a:t>The law: </a:t>
            </a:r>
            <a:r>
              <a:rPr sz="1200" i="1">
                <a:solidFill>
                  <a:srgbClr val="1A1A2E"/>
                </a:solidFill>
                <a:latin typeface="Calibri"/>
              </a:rPr>
              <a:t>DBP Act 2020 + RAB Act 2020.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But what about MY renovation?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SSMA 2015 sorts your work into 3 buckets (sections 108–110):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212080"/>
                <a:gridCol w="365760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you need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Cosmetic Work (s.109)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Painting, hanging pictures, curtains, replacing handles, hooks, TV.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Nothing. Just go ahead.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Minor Renovations (s.110)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New kitchen, built-in wardrobe, internal walls, recessed lights, hardwood/laminate flooring.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OC approval by ordinary resolution (50%+).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Major Renovations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Anything that changes external appearance, OR touches structure / waterproofing / fire / common property.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By-law by special resolution (75%+) — usually with DBP-compliant designer + builder.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526280"/>
            <a:ext cx="11064240" cy="914400"/>
          </a:xfrm>
          <a:prstGeom prst="rect">
            <a:avLst/>
          </a:prstGeom>
          <a:solidFill>
            <a:srgbClr val="C0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TRAP: Replacing your bathroom waterproofing membrane is NOT cosmetic. It touches the original waterproofing — which is Common Property. OC approval + Registered Design Practitioner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094415" cy="86868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623560"/>
            <a:ext cx="137160" cy="86868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Rule in one line: </a:t>
            </a:r>
            <a:r>
              <a:rPr sz="1300">
                <a:solidFill>
                  <a:srgbClr val="1A1A2E"/>
                </a:solidFill>
                <a:latin typeface="Calibri"/>
              </a:rPr>
              <a:t>Changes the look from outside, structure, fire, or waterproofing? It is a Major Renovation.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07040"/>
                </a:solidFill>
                <a:latin typeface="Calibri"/>
              </a:rPr>
              <a:t>Who pays: </a:t>
            </a:r>
            <a:r>
              <a:rPr sz="1200">
                <a:solidFill>
                  <a:srgbClr val="1A1A2E"/>
                </a:solidFill>
                <a:latin typeface="Calibri"/>
              </a:rPr>
              <a:t>You pay for your own work; by-law often makes you pay ongoing maintenance too.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A68A64"/>
                </a:solidFill>
                <a:latin typeface="Calibri"/>
              </a:rPr>
              <a:t>The law: </a:t>
            </a:r>
            <a:r>
              <a:rPr sz="1200" i="1">
                <a:solidFill>
                  <a:srgbClr val="1A1A2E"/>
                </a:solidFill>
                <a:latin typeface="Calibri"/>
              </a:rPr>
              <a:t>SSMA 2015 sections 108–110, plus DBP Act 2020 for waterproofing.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First-Year Story — a brand-new building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972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863840"/>
              </a:tblGrid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Moment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Strata Plan registered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Owners Corporation is born. Developer holds all votes (owns unsold lots).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Initial Period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Until 1/3 of lots are sold to outside buyers. Developer cannot make big Common Property decisions.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First AGM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Within 2 months of end of Initial Period. Owners elect first Strata Committee. Developer hands over plans, manuals, maintenance schedule.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Building Bond (Class 2, 4+ storeys)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Developer lodges 2% of contract price with NSW Fair Trading.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Inspections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Independent Building Inspector: interim (15–18 months) + final (21–24 months).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HBA Defects Warranty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2-year minor / 6-year major from completion (Home Building Act s.18B).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DBP Statutory Duty of Care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10-year duty of care from designer, builder, manufacturer, supplier (DBP Act s.37). Retrospective to 11 June 2010.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349240"/>
            <a:ext cx="11094415" cy="1143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349240"/>
            <a:ext cx="137160" cy="114300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1072865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Rule in one line: </a:t>
            </a:r>
            <a:r>
              <a:rPr sz="1300">
                <a:solidFill>
                  <a:srgbClr val="1A1A2E"/>
                </a:solidFill>
                <a:latin typeface="Calibri"/>
              </a:rPr>
              <a:t>Year 1–2 = developer hand-over and bond. Year 0–10 = DBP duty of care. Year 0–6 = HBA major defects.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07040"/>
                </a:solidFill>
                <a:latin typeface="Calibri"/>
              </a:rPr>
              <a:t>Who pays: </a:t>
            </a:r>
            <a:r>
              <a:rPr sz="1200">
                <a:solidFill>
                  <a:srgbClr val="1A1A2E"/>
                </a:solidFill>
                <a:latin typeface="Calibri"/>
              </a:rPr>
              <a:t>Developer/builder for warranty work; OC for ongoing maintenance after handover.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A68A64"/>
                </a:solidFill>
                <a:latin typeface="Calibri"/>
              </a:rPr>
              <a:t>The law: </a:t>
            </a:r>
            <a:r>
              <a:rPr sz="1200" i="1">
                <a:solidFill>
                  <a:srgbClr val="1A1A2E"/>
                </a:solidFill>
                <a:latin typeface="Calibri"/>
              </a:rPr>
              <a:t>SSMA 2015 Pt 3, SSDA 2015, DBP Act s.37, HBA s.18B + Pt 11.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to raise an issue — the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A68A64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280160"/>
            <a:ext cx="10424160" cy="64008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280160"/>
            <a:ext cx="102412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Speak to your Strata Committee Secretary or your Strata Manager (in writing).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640080" cy="6400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A68A64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057400"/>
            <a:ext cx="10424160" cy="64008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057400"/>
            <a:ext cx="102412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Strata Committee tries to resolve within delegated authority.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34639"/>
            <a:ext cx="640080" cy="6400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34639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A68A64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834639"/>
            <a:ext cx="10424160" cy="64008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834639"/>
            <a:ext cx="102412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If unresolved → raise as a Motion at the next OC general meeting.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11879"/>
            <a:ext cx="640080" cy="6400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11879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A68A64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3611879"/>
            <a:ext cx="10424160" cy="64008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611879"/>
            <a:ext cx="102412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If unresolved → FREE mediation with NSW Fair Trading.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89120"/>
            <a:ext cx="640080" cy="6400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891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A68A64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4389120"/>
            <a:ext cx="10424160" cy="64008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389120"/>
            <a:ext cx="102412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Final step → Apply to NCAT (Strata &amp; Community Schemes Division).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69280"/>
            <a:ext cx="11094415" cy="9144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669280"/>
            <a:ext cx="137160" cy="91440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Rule in one line: </a:t>
            </a:r>
            <a:r>
              <a:rPr sz="1300">
                <a:solidFill>
                  <a:srgbClr val="1A1A2E"/>
                </a:solidFill>
                <a:latin typeface="Calibri"/>
              </a:rPr>
              <a:t>Always escalate one step at a time. Mediation is free. NCAT is the final step.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07040"/>
                </a:solidFill>
                <a:latin typeface="Calibri"/>
              </a:rPr>
              <a:t>Who pays: </a:t>
            </a:r>
            <a:r>
              <a:rPr sz="1200">
                <a:solidFill>
                  <a:srgbClr val="1A1A2E"/>
                </a:solidFill>
                <a:latin typeface="Calibri"/>
              </a:rPr>
              <a:t>Each step has its own filing fee at NCAT.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A68A64"/>
                </a:solidFill>
                <a:latin typeface="Calibri"/>
              </a:rPr>
              <a:t>The law: </a:t>
            </a:r>
            <a:r>
              <a:rPr sz="1200" i="1">
                <a:solidFill>
                  <a:srgbClr val="1A1A2E"/>
                </a:solidFill>
                <a:latin typeface="Calibri"/>
              </a:rPr>
              <a:t>SSMA 2015 Part 12, NCAT Civil and Administrative Tribunal Act 2013.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7 Mistakes Owners Make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97280"/>
          <a:ext cx="110642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029200"/>
                <a:gridCol w="5486400"/>
              </a:tblGrid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The mistake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The fix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"It's my apartment, I can do what I want."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Read your Strata Plan + by-laws first.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"The Strata Manager said it's fine."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Strata Manager has NO authority to approve remedial works. Only the OC does.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"It's just waterproofing — no designer needed."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On common property = DBP. Skip designer = up to $165,000 fine.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"No planning consultant — it's just a balcony."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Planter removal, balustrade swap, balcony enlargement → DA + DBP.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"Pay cash, skip the Portal."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No Building Compliance Declaration = no closure. Future buyers walk.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"Defects are old, no point chasing."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DBP duty of care = 10 years. HBA major defects = 6 years.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"We voted last year — that's enough."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OC resolutions older than 12 months may need a re-vote.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30-Second 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7040"/>
                </a:solidFill>
                <a:latin typeface="Calibri"/>
              </a:rPr>
              <a:t>Acronyms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051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7040"/>
                </a:solidFill>
                <a:latin typeface="Calibri"/>
              </a:rPr>
              <a:t>More acronyms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4630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Owners Corporation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9202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Strata Committee (3–9 elected owners)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SM / 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3774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Strata Manager / Building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Common Property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8346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Outside the Lot line, owned together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Lot Property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2918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Inside the Lot line, owned by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By-law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749039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Rule that binds every owner, registered against SP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Strata Plan (SP)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2062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The legal map of the building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BMS / SMS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6634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Building / Strata Management Statement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BMC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1206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Building Management Committee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4630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DA / CDC / Exempt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14630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The 3 planning approval pathways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9202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DBP / RAB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19202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The two 2020 reform 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3774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CIRD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23774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Construction-Issued Regulated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8346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8346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Design Compliance Declaration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2918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BCD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32918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Building Compliance Declaration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749039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PC / OC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749039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Practical Completion / Occupation Certificate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2062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DLP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42062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Defects Liability Period (usually 12 months)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6634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NCAT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6634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NSW Civil and Administrative Tribunal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1206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NCC / BCA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51206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National Construction Code / Building Code of Australia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CHAPTER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144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1-Page Cheat Sheet — print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C07040"/>
                </a:solidFill>
                <a:latin typeface="Calibri"/>
              </a:rPr>
              <a:t>Whose problem is it?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371600"/>
              </a:tblGrid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The thing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Lot or Common?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Who pays?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Light bulb in your kitchen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LOT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YOU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Dishwasher leak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LOT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YOU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Original bathroom tiles cracked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COMMON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OC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New tiles you laid leak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LOT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YOU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Original waterproofing failed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COMMON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OC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External window broken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COMMON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OC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Roof leaking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COMMON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OC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Pipe in wall, only your unit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LOT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YOU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Pipe in wall, multiple units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COMMON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OC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Front door of your apartment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COMMON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OC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Lock on your front door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LOT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YOU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Carpet inside your apartment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LOT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YOU</a:t>
                      </a:r>
                    </a:p>
                  </a:txBody>
                  <a:tcPr marL="73152" marR="73152" marT="36576" marB="36576">
                    <a:solidFill>
                      <a:srgbClr val="FAF7F0"/>
                    </a:solidFill>
                  </a:tcPr>
                </a:tc>
              </a:tr>
              <a:tr h="352699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Carpet in the corridor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COMMON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A2E"/>
                          </a:solidFill>
                          <a:latin typeface="Calibri"/>
                        </a:rPr>
                        <a:t>OC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80960" y="1417320"/>
            <a:ext cx="4114800" cy="49377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55448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A68A64"/>
                </a:solidFill>
                <a:latin typeface="Calibri"/>
              </a:rPr>
              <a:t>Before you start ANY work, ask: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03120"/>
            <a:ext cx="38404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1.  Does it touch Common Property?
     → Need OC approval.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017520"/>
            <a:ext cx="38404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2.  Changes look, structure, fire or waterproofing?
     → Need a by-law (75%+).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931920"/>
            <a:ext cx="38404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3.  Waterproofing or cladding on Class 2?
     → Need Reg. Designer + Reg. Builder.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846320"/>
            <a:ext cx="38404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4.  Need a DA or CDC?
     → Engage a Planning Consultant.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852160"/>
            <a:ext cx="3840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68A64"/>
                </a:solidFill>
                <a:latin typeface="Calibri"/>
              </a:rPr>
              <a:t>YES to ANY of 1–3 → it's NOT a DIY job.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68A64"/>
                </a:solidFill>
                <a:latin typeface="Calibri"/>
              </a:rPr>
              <a:t>THE STRATA STORY · 369 Alliance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A6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Confused about Strata?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1">
                <a:solidFill>
                  <a:srgbClr val="A68A64"/>
                </a:solidFill>
                <a:latin typeface="Calibri"/>
              </a:rPr>
              <a:t>You are not alone — and you do not have to figure it out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369 Alliance · Building Compliance &amp; Inspection — NSW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A68A64"/>
                </a:solidFill>
                <a:latin typeface="Calibri"/>
              </a:rPr>
              <a:t>Sources: SSMA 2015 · SSDA 2015 · DBP Act 2020 + Reg 2021 · RAB Act 2020 · HBA 1989 · Codes SEPP 2008 · EP&amp;A Act 1979 · Building Commission NSW.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